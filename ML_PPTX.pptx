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1881"/>
    <p:restoredTop sz="94610"/>
  </p:normalViewPr>
  <p:slideViewPr>
    <p:cSldViewPr snapToGrid="0" snapToObjects="1">
      <p:cViewPr>
        <p:scale>
          <a:sx n="165" d="100"/>
          <a:sy n="165" d="100"/>
        </p:scale>
        <p:origin x="113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085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with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Selling Price Prediction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Dataset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401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 car prices using linear regression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gradient descent from scratch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different learning rates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62137" y="9829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year, km_driven, owner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fuel type 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seller type </a:t>
            </a:r>
            <a:endParaRPr lang="en-US" sz="1400" dirty="0"/>
          </a:p>
          <a:p>
            <a:pPr marL="0" indent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transmission type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Selling price 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457" y="3200400"/>
            <a:ext cx="8229600" cy="12801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Preprocessing: Ordinal encoding → One-hot encoding → MinMax scaling [0,1]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3152" cy="14630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Encoding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Ordinal for owner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Binary for transmission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One-hot for fuel &amp; seller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00584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73152" cy="14630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3566160" y="1143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 Removal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1554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Dropped 'name' column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useful for prediction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noise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00584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2" name="Shape 10"/>
          <p:cNvSpPr/>
          <p:nvPr/>
        </p:nvSpPr>
        <p:spPr>
          <a:xfrm>
            <a:off x="6309360" y="1005840"/>
            <a:ext cx="73152" cy="14630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/>
          <p:nvPr/>
        </p:nvSpPr>
        <p:spPr>
          <a:xfrm>
            <a:off x="649224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Scaling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MinMax to [0,1]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Prevents instability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2651759"/>
            <a:ext cx="8229600" cy="2152469"/>
          </a:xfrm>
          <a:prstGeom prst="rect">
            <a:avLst/>
          </a:prstGeom>
          <a:solidFill>
            <a:srgbClr val="2D343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/>
          <p:nvPr/>
        </p:nvSpPr>
        <p:spPr>
          <a:xfrm>
            <a:off x="640080" y="2834639"/>
            <a:ext cx="7863840" cy="17663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#Binary for Transmission</a:t>
            </a:r>
          </a:p>
          <a:p>
            <a:pPr marL="0" indent="0">
              <a:buNone/>
            </a:pPr>
            <a:r>
              <a:rPr lang="en-US" sz="1100" dirty="0" err="1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100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['transmission'] = </a:t>
            </a:r>
            <a:r>
              <a:rPr lang="en-US" sz="1100" dirty="0" err="1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100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['transmission'].map({'Manual': 0, 'Automatic': 1}).</a:t>
            </a:r>
            <a:r>
              <a:rPr lang="en-US" sz="1100" dirty="0" err="1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</a:t>
            </a:r>
            <a:r>
              <a:rPr lang="en-US" sz="1100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(0)</a:t>
            </a:r>
          </a:p>
          <a:p>
            <a:endParaRPr lang="en-US" sz="1100" dirty="0"/>
          </a:p>
          <a:p>
            <a:r>
              <a:rPr lang="en-US" sz="1100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One-hot encoding</a:t>
            </a:r>
            <a:endParaRPr lang="en-US" sz="1100" dirty="0"/>
          </a:p>
          <a:p>
            <a:r>
              <a:rPr lang="en-US" sz="1100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cat in FUEL_CATEGORIES:                              </a:t>
            </a:r>
            <a:endParaRPr lang="en-US" sz="1100" dirty="0"/>
          </a:p>
          <a:p>
            <a:r>
              <a:rPr lang="en-US" sz="1100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 err="1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100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 dirty="0" err="1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f'fuel</a:t>
            </a:r>
            <a:r>
              <a:rPr lang="en-US" sz="1100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_{cat}'] = (</a:t>
            </a:r>
            <a:r>
              <a:rPr lang="en-US" sz="1100" dirty="0" err="1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100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['fuel'] == cat).</a:t>
            </a:r>
            <a:r>
              <a:rPr lang="en-US" sz="1100" dirty="0" err="1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astype</a:t>
            </a:r>
            <a:r>
              <a:rPr lang="en-US" sz="1100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(int)</a:t>
            </a:r>
            <a:endParaRPr lang="en-US" sz="1100" dirty="0"/>
          </a:p>
          <a:p>
            <a:pPr marL="0" indent="0">
              <a:buNone/>
            </a:pPr>
            <a:endParaRPr lang="en-US" sz="1100" dirty="0">
              <a:solidFill>
                <a:srgbClr val="ECEFF4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MinMax Scaling - Essential for Gradient Descent!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['year', 'km_driven', 'owner']: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mn, mx = df[col].min(), df[col].max()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df[col] = (df[col] - mn) / (mx - mn + 1e-8)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49943" y="10058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Hypothesis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h(x) = Xθ  =  θ₀x₀ + θ₁x₁ + ... + θₙxₙ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 (Mean Squared Error)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J(θ) = 1/(2m) Σ(h(x⁽ⁱ⁾) - y⁽ⁱ⁾)²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9943" y="3291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Update Rule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:= θ - α · ∇J(θ)    where    ∇J(θ) = 1/m · Xᵀ(Xθ - y)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learning rate  |  m = number of samples  |  θ = parameters | y =  real price | </a:t>
            </a:r>
            <a:r>
              <a:rPr lang="en-US" sz="1200" dirty="0" err="1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iteration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98" y="5549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Learning Rate Comparison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256821"/>
              </p:ext>
            </p:extLst>
          </p:nvPr>
        </p:nvGraphicFramePr>
        <p:xfrm>
          <a:off x="457198" y="604130"/>
          <a:ext cx="8229600" cy="14478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0.002499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0.004896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0.001819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0.003789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0.001511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0.003353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0.001443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0.003246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 descr="A graph with different colored lines  AI-generated content may be incorrect.">
            <a:extLst>
              <a:ext uri="{FF2B5EF4-FFF2-40B4-BE49-F238E27FC236}">
                <a16:creationId xmlns:a16="http://schemas.microsoft.com/office/drawing/2014/main" id="{F4282E90-5468-3525-1F3B-661708FE2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2051930"/>
            <a:ext cx="8229599" cy="29655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learning rates converge to similar final cost</a:t>
            </a:r>
            <a:endParaRPr lang="en-US" sz="13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Higher α = faster convergence (10,000 vs 450 iterations)</a:t>
            </a:r>
            <a:endParaRPr lang="en-US" sz="13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α = 0.1 achieved best balance: fast + stable + low test error</a:t>
            </a:r>
            <a:endParaRPr lang="en-US" sz="1300" dirty="0"/>
          </a:p>
        </p:txBody>
      </p:sp>
      <p:pic>
        <p:nvPicPr>
          <p:cNvPr id="8" name="Picture 7" descr="A graph with different colored squares  AI-generated content may be incorrect.">
            <a:extLst>
              <a:ext uri="{FF2B5EF4-FFF2-40B4-BE49-F238E27FC236}">
                <a16:creationId xmlns:a16="http://schemas.microsoft.com/office/drawing/2014/main" id="{9C74A9E9-8914-02A4-08A2-FD53F7904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8229600" cy="3177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α = 0.1  (converged in 152 iterations)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13716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(Scaled)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(Real INR)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0.003246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squared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~463,000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~232,000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absolute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 variance explained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7" name="Text 4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Summary</a:t>
            </a:r>
            <a:endParaRPr lang="en-US" sz="1600" dirty="0"/>
          </a:p>
        </p:txBody>
      </p:sp>
      <p:sp>
        <p:nvSpPr>
          <p:cNvPr id="5" name="Text 5"/>
          <p:cNvSpPr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Moderate predictive power: R² = 0.34 (explains 34% of price variance)</a:t>
            </a:r>
            <a:endParaRPr lang="en-US" sz="13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Average prediction error: 232,000 (MAE) on unseen test data</a:t>
            </a:r>
            <a:endParaRPr lang="en-US" sz="13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Efficient training: converged in only 152 iterations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Quality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44577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Text 2"/>
          <p:cNvSpPr/>
          <p:nvPr/>
        </p:nvSpPr>
        <p:spPr>
          <a:xfrm>
            <a:off x="640080" y="45948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cluster around diagonal = good predictions  |  Some outliers exist but overall fit is strong (R²=0.34)</a:t>
            </a:r>
            <a:endParaRPr lang="en-US" sz="1300" dirty="0"/>
          </a:p>
        </p:txBody>
      </p:sp>
      <p:pic>
        <p:nvPicPr>
          <p:cNvPr id="7" name="Picture 6" descr="A graph with a red line  AI-generated content may be incorrect.">
            <a:extLst>
              <a:ext uri="{FF2B5EF4-FFF2-40B4-BE49-F238E27FC236}">
                <a16:creationId xmlns:a16="http://schemas.microsoft.com/office/drawing/2014/main" id="{DC28D77C-F7EC-FBC8-A827-833B8B2EB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616294"/>
            <a:ext cx="8229599" cy="39099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Features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15546"/>
              </p:ext>
            </p:extLst>
          </p:nvPr>
        </p:nvGraphicFramePr>
        <p:xfrm>
          <a:off x="457200" y="746760"/>
          <a:ext cx="8229600" cy="20878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on 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Newer cars cost more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km_driven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Higher mileage slightly reduces 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fuel_Diesel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Diesel has slight premium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fuel_Petrol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Petrol has small discount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More owners = slight reduction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Parameters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3418254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Transmission is the strongest predictor</a:t>
            </a:r>
            <a:endParaRPr lang="en-US" sz="1300" dirty="0"/>
          </a:p>
          <a:p>
            <a:pPr marL="0" indent="0">
              <a:lnSpc>
                <a:spcPts val="13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Automatic transmission adds premium (θ = +0.086)</a:t>
            </a:r>
            <a:endParaRPr lang="en-US" sz="13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Vehicle age has moderate impact</a:t>
            </a:r>
            <a:endParaRPr lang="en-US" sz="1300" dirty="0"/>
          </a:p>
          <a:p>
            <a:pPr marL="0" indent="0">
              <a:lnSpc>
                <a:spcPts val="13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Newer cars cost more (θ = +0.059)</a:t>
            </a:r>
            <a:endParaRPr lang="en-US" sz="13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Fuel and other features have minor effects</a:t>
            </a:r>
            <a:endParaRPr lang="en-US" sz="13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Small differences: Diesel +0.032, mileage -0.009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50159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72812" y="1060109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Achievements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Implemented linear regression from scratch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Gradient descent converged in 152 iterations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Achieved R² = 0.34 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Identified key price drivers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84492" y="887266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393052" y="152734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690</Words>
  <Application>Microsoft Macintosh PowerPoint</Application>
  <PresentationFormat>On-screen Show (16:9)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 with Gradient Descent</dc:title>
  <dc:subject>PptxGenJS Presentation</dc:subject>
  <dc:creator>ML Project Team</dc:creator>
  <cp:lastModifiedBy>FURKAN YENİER</cp:lastModifiedBy>
  <cp:revision>5</cp:revision>
  <dcterms:created xsi:type="dcterms:W3CDTF">2026-03-10T17:32:00Z</dcterms:created>
  <dcterms:modified xsi:type="dcterms:W3CDTF">2026-03-11T18:27:57Z</dcterms:modified>
</cp:coreProperties>
</file>